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630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on public / controlled benchmarks is largely solved. LDM-PCB numbers are on its self-built 5-class soldering-defect dataset with an RTX 3090 Ti; on Jetson Orin NX the same model runs at about 10 FPS.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reads left to right: what the literature does, what is still missing, and how my work responds. Evidence numbers are taken from refs [1]–[4].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this is not another YOLO architecture. It is a hardware–AI co-design study with a fair, fully measured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clean-split evidence (one seed): recall +0.0082, F1 +0.0048, mAP@0.5:0.95 −0.0026. So the novelty must be proven through efficiency and per-class analysis, not assumed.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LITERATURE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PCB defect detection papers have already solved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48737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novelty  ·  1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ACHIEVED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99032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13716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mAP@0.5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15910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≈97–99.5 % on public benchmarks [1]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7452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7240" y="18470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YOLO-based real-time detection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777240" y="20665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 detectors dominate [1][2][4]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5000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77240" y="232257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fusion for small defects</a:t>
            </a:r>
            <a:endParaRPr lang="en-US" sz="1150" dirty="0"/>
          </a:p>
        </p:txBody>
      </p:sp>
      <p:sp>
        <p:nvSpPr>
          <p:cNvPr id="15" name="Text 9"/>
          <p:cNvSpPr txBox="1"/>
          <p:nvPr/>
        </p:nvSpPr>
        <p:spPr>
          <a:xfrm>
            <a:off x="777240" y="25420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multi-scale fusion, P2 heads [1]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25496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7240" y="27980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class imbalance</a:t>
            </a:r>
            <a:endParaRPr lang="en-US" sz="1150" dirty="0"/>
          </a:p>
        </p:txBody>
      </p:sp>
      <p:sp>
        <p:nvSpPr>
          <p:cNvPr id="18" name="Text 11"/>
          <p:cNvSpPr txBox="1"/>
          <p:nvPr/>
        </p:nvSpPr>
        <p:spPr>
          <a:xfrm>
            <a:off x="777240" y="30175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tail attention [1]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00984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77240" y="32735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 design</a:t>
            </a:r>
            <a:endParaRPr lang="en-US" sz="1150" dirty="0"/>
          </a:p>
        </p:txBody>
      </p:sp>
      <p:sp>
        <p:nvSpPr>
          <p:cNvPr id="21" name="Text 13"/>
          <p:cNvSpPr txBox="1"/>
          <p:nvPr/>
        </p:nvSpPr>
        <p:spPr>
          <a:xfrm>
            <a:off x="777240" y="34930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8.61 M params [1]; INT8 / mixed quantization [2][4]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76472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77240" y="37490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Edge-device deployment</a:t>
            </a:r>
            <a:endParaRPr lang="en-US" sz="1150" dirty="0"/>
          </a:p>
        </p:txBody>
      </p:sp>
      <p:sp>
        <p:nvSpPr>
          <p:cNvPr id="24" name="Text 15"/>
          <p:cNvSpPr txBox="1"/>
          <p:nvPr/>
        </p:nvSpPr>
        <p:spPr>
          <a:xfrm>
            <a:off x="777240" y="396849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Orin NX [1]; PYNQ-Z2 FPGA [2][4]</a:t>
            </a:r>
            <a:endParaRPr lang="en-US" sz="950" dirty="0"/>
          </a:p>
        </p:txBody>
      </p:sp>
      <p:sp>
        <p:nvSpPr>
          <p:cNvPr id="25" name="Shape 16"/>
          <p:cNvSpPr/>
          <p:nvPr/>
        </p:nvSpPr>
        <p:spPr>
          <a:xfrm>
            <a:off x="4069080" y="1097280"/>
            <a:ext cx="4617720" cy="1600200"/>
          </a:xfrm>
          <a:prstGeom prst="roundRect">
            <a:avLst>
              <a:gd name="adj" fmla="val 4000"/>
            </a:avLst>
          </a:prstGeom>
          <a:solidFill>
            <a:srgbClr val="E6F3F4"/>
          </a:solidFill>
          <a:ln w="9525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7"/>
          <p:cNvSpPr txBox="1"/>
          <p:nvPr/>
        </p:nvSpPr>
        <p:spPr>
          <a:xfrm>
            <a:off x="4206240" y="11887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LDM-PCB [1]  </a:t>
            </a:r>
            <a:r>
              <a:rPr lang="en-US" sz="9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· multi-scale · fine-grained feature loss</a:t>
            </a:r>
            <a:endParaRPr lang="en-US" sz="1150" dirty="0"/>
          </a:p>
        </p:txBody>
      </p:sp>
      <p:sp>
        <p:nvSpPr>
          <p:cNvPr id="27" name="Text 18"/>
          <p:cNvSpPr txBox="1"/>
          <p:nvPr/>
        </p:nvSpPr>
        <p:spPr>
          <a:xfrm>
            <a:off x="4206240" y="14356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tail attention + dynamic multi-scale fusion + high-resolution prediction layer</a:t>
            </a:r>
            <a:endParaRPr lang="en-US" sz="950" dirty="0"/>
          </a:p>
        </p:txBody>
      </p:sp>
      <p:sp>
        <p:nvSpPr>
          <p:cNvPr id="28" name="Text 19"/>
          <p:cNvSpPr txBox="1"/>
          <p:nvPr/>
        </p:nvSpPr>
        <p:spPr>
          <a:xfrm>
            <a:off x="4206240" y="1737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99.1 %</a:t>
            </a:r>
            <a:endParaRPr lang="en-US" sz="2100" dirty="0"/>
          </a:p>
        </p:txBody>
      </p:sp>
      <p:sp>
        <p:nvSpPr>
          <p:cNvPr id="29" name="Text 20"/>
          <p:cNvSpPr txBox="1"/>
          <p:nvPr/>
        </p:nvSpPr>
        <p:spPr>
          <a:xfrm>
            <a:off x="4206240" y="21488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5303520" y="1737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81.6 %</a:t>
            </a:r>
            <a:endParaRPr lang="en-US" sz="2100" dirty="0"/>
          </a:p>
        </p:txBody>
      </p:sp>
      <p:sp>
        <p:nvSpPr>
          <p:cNvPr id="31" name="Text 22"/>
          <p:cNvSpPr txBox="1"/>
          <p:nvPr/>
        </p:nvSpPr>
        <p:spPr>
          <a:xfrm>
            <a:off x="5303520" y="21488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mAP@0.5:0.95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6400800" y="1737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8.61 M</a:t>
            </a:r>
            <a:endParaRPr lang="en-US" sz="2100" dirty="0"/>
          </a:p>
        </p:txBody>
      </p:sp>
      <p:sp>
        <p:nvSpPr>
          <p:cNvPr id="33" name="Text 24"/>
          <p:cNvSpPr txBox="1"/>
          <p:nvPr/>
        </p:nvSpPr>
        <p:spPr>
          <a:xfrm>
            <a:off x="6400800" y="21488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7498080" y="17373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100" dirty="0"/>
          </a:p>
        </p:txBody>
      </p:sp>
      <p:sp>
        <p:nvSpPr>
          <p:cNvPr id="35" name="Text 26"/>
          <p:cNvSpPr txBox="1"/>
          <p:nvPr/>
        </p:nvSpPr>
        <p:spPr>
          <a:xfrm>
            <a:off x="7498080" y="21488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(RTX 3090 Ti)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4206240" y="23957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Self-built 940-image soldering dataset; ≈10 FPS on Jetson Orin NX</a:t>
            </a:r>
            <a:endParaRPr lang="en-US" sz="850" dirty="0"/>
          </a:p>
        </p:txBody>
      </p:sp>
      <p:sp>
        <p:nvSpPr>
          <p:cNvPr id="37" name="Shape 28"/>
          <p:cNvSpPr/>
          <p:nvPr/>
        </p:nvSpPr>
        <p:spPr>
          <a:xfrm>
            <a:off x="4069080" y="2834640"/>
            <a:ext cx="1472184" cy="1600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 txBox="1"/>
          <p:nvPr/>
        </p:nvSpPr>
        <p:spPr>
          <a:xfrm>
            <a:off x="4160520" y="29077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YOLOx-Plus + FPGA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4160520" y="331012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SIoU; INT8/INT16 mixed quantization on PYNQ-Z2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4160520" y="4023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90.1 % mAP · 72.6 FPS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5641848" y="2834640"/>
            <a:ext cx="1472184" cy="1600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3"/>
          <p:cNvSpPr txBox="1"/>
          <p:nvPr/>
        </p:nvSpPr>
        <p:spPr>
          <a:xfrm>
            <a:off x="5733288" y="29077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FPGA image processing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5733288" y="331012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golden-reference XOR comparison in Verilog, 1024×1024</a:t>
            </a:r>
            <a:endParaRPr lang="en-US" sz="900" dirty="0"/>
          </a:p>
        </p:txBody>
      </p:sp>
      <p:sp>
        <p:nvSpPr>
          <p:cNvPr id="44" name="Text 35"/>
          <p:cNvSpPr txBox="1"/>
          <p:nvPr/>
        </p:nvSpPr>
        <p:spPr>
          <a:xfrm>
            <a:off x="5733288" y="4023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data; simulation only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7214616" y="2834640"/>
            <a:ext cx="1472184" cy="1600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7"/>
          <p:cNvSpPr txBox="1"/>
          <p:nvPr/>
        </p:nvSpPr>
        <p:spPr>
          <a:xfrm>
            <a:off x="7306056" y="290779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YOLOv8n on PYNQ-Z2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7306056" y="3310128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+ pruning; FPGA fabric runs the convolutions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7306056" y="40233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/ R 98.5 % · 0.15 s inference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457200" y="422452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accuracy on public benchmarks is largely solved — the open questions are elsewhere.</a:t>
            </a:r>
            <a:endParaRPr lang="en-US" sz="1050" dirty="0"/>
          </a:p>
        </p:txBody>
      </p:sp>
      <p:sp>
        <p:nvSpPr>
          <p:cNvPr id="50" name="Text 41"/>
          <p:cNvSpPr txBox="1"/>
          <p:nvPr/>
        </p:nvSpPr>
        <p:spPr>
          <a:xfrm>
            <a:off x="457200" y="4645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Li et al., Eng. Appl. Artif. Intell. 165 (2026) 113415   [2] Pan et al., IEEE Access 12 (2024) 61343   [3] Navaneeth &amp; Kannan, ICCPCT 2025   [4] Sagayaraj et al., ICDCS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RESEARCH GAP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papers still cannot fully solve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48737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novelty  ·  2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288036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works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proposed solution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Mainly new detector architectures [1][2]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hardware–software inspection pipeline rarely evaluated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preprocessing + YOLO evaluated as one chain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or self-built controlled datasets, random splits [1][2]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generalization still uncertain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Group-aware split now; company PCB images next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 ≈ 99–99.5 % for most YOLO models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localization (mAP@0.5:0.95) remains harder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mAP@0.5:0.95 + per-class AP as primary metrics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and multi-scale fusion learn cues implicitly [1][2]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structural edge cues rarely 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Defect-oriented edge enhancement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Pre-processing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 / filter / normalize in software [1][4]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preprocessing adds latency on every image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deterministic filtering to FPGA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FPGA accelerates the CNN itself [2][4]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Resources, interface overhead, end-to-end FPS not deeply measured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LEs, memory, transfer time, end-to-end FPS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first, speed second [1]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Accuracy–latency–resource trade-off not analysed jointly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trade-off evaluation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8229600" cy="420624"/>
          </a:xfrm>
          <a:prstGeom prst="roundRect">
            <a:avLst>
              <a:gd name="adj" fmla="val 15217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640080" y="416052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F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one line: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reviewed study measures whether hardware edge preprocessing helps a lightweight YOLO in accuracy and in end-to-end latency and FPGA resources together.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645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Li et al., Eng. Appl. Artif. Intell. 165 (2026) 113415   [2] Pan et al., IEEE Access 12 (2024) 61343   [3] Navaneeth &amp; Kannan, ICCPCT 2025   [4] Sagayaraj et al., ICDCS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MY RESEARCH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my research tries to solve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48737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novelty  ·  3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YOLO model — a hardware–AI co-design study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11480" y="1280160"/>
            <a:ext cx="3246120" cy="1024128"/>
          </a:xfrm>
          <a:prstGeom prst="roundRect">
            <a:avLst>
              <a:gd name="adj" fmla="val 6250"/>
            </a:avLst>
          </a:prstGeom>
          <a:solidFill>
            <a:srgbClr val="E6F3F4"/>
          </a:solidFill>
          <a:ln w="9525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703320" y="1280160"/>
            <a:ext cx="5029200" cy="1024128"/>
          </a:xfrm>
          <a:prstGeom prst="roundRect">
            <a:avLst>
              <a:gd name="adj" fmla="val 6250"/>
            </a:avLst>
          </a:prstGeom>
          <a:solidFill>
            <a:srgbClr val="EEF1F6"/>
          </a:solidFill>
          <a:ln w="9525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502920" y="13167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· Cyclone IV E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794760" y="131673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· GPU / edge-AI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02920" y="1536192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48640" y="153619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PCB image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892808" y="1865376"/>
            <a:ext cx="237744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148840" y="1536192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2194560" y="153619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/ edge enhancement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538728" y="1865376"/>
            <a:ext cx="237744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794760" y="1536192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3840480" y="153619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Edge-enhanced image fusion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184648" y="1865376"/>
            <a:ext cx="237744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40680" y="1536192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5486400" y="153619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YOLO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830568" y="1865376"/>
            <a:ext cx="237744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086600" y="1536192"/>
            <a:ext cx="13716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132320" y="1536192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defect decision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8912" y="2907792"/>
            <a:ext cx="26517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48640" y="3072384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54864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14400" y="290779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edge information for topology-sensitive defects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227832" y="2907792"/>
            <a:ext cx="26517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337560" y="3072384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333756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3703320" y="290779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deterministic preprocessing from software to FPGA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016752" y="2907792"/>
            <a:ext cx="26517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6126480" y="3072384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 txBox="1"/>
          <p:nvPr/>
        </p:nvSpPr>
        <p:spPr>
          <a:xfrm>
            <a:off x="6126480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492240" y="290779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original vs edge-enhanced YOLO fairly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38912" y="3621024"/>
            <a:ext cx="26517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548640" y="378561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 txBox="1"/>
          <p:nvPr/>
        </p:nvSpPr>
        <p:spPr>
          <a:xfrm>
            <a:off x="54864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914400" y="362102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latency, FPS, FPGA resources and end-to-end performance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3227832" y="3621024"/>
            <a:ext cx="26517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3337560" y="378561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 txBox="1"/>
          <p:nvPr/>
        </p:nvSpPr>
        <p:spPr>
          <a:xfrm>
            <a:off x="333756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3703320" y="362102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which defect classes benefit from edge enhancement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016752" y="3621024"/>
            <a:ext cx="2651760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126480" y="378561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 txBox="1"/>
          <p:nvPr/>
        </p:nvSpPr>
        <p:spPr>
          <a:xfrm>
            <a:off x="6126480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362102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practicality for low-cost AOI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NOVELTY AND LIMITATION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38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of my work — and its honest limits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48737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&amp; novelty  ·  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23360" cy="3108960"/>
          </a:xfrm>
          <a:prstGeom prst="roundRect">
            <a:avLst>
              <a:gd name="adj" fmla="val 2059"/>
            </a:avLst>
          </a:prstGeom>
          <a:solidFill>
            <a:srgbClr val="E6F3F4"/>
          </a:solidFill>
          <a:ln w="9525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481328"/>
            <a:ext cx="256032" cy="25603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40080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146304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Defect-oriented edge enhancement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16733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trace breaks, abnormal connections, extra copper, hole boundaries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2020824"/>
            <a:ext cx="256032" cy="25603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40080" y="2020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05840" y="2002536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FPGA-assisted preprocessing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2212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filtering instead of software-only preprocessing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032" cy="25603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640080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2542032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Hardware–AI co-design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27523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edge extraction + lightweight YOLO detector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3099816"/>
            <a:ext cx="256032" cy="25603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64008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05840" y="3081528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trade-off evaluation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05840" y="32918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P, R, F1, mAP@0.5, mAP@0.5:0.95, per-class AP, latency, FPS, FPGA resources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40080" y="3639312"/>
            <a:ext cx="256032" cy="25603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64008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005840" y="3621024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baseline comparison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005840" y="38313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edge-enhanced YOLO: same split, same protocol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63440" y="1097280"/>
            <a:ext cx="4023360" cy="3108960"/>
          </a:xfrm>
          <a:prstGeom prst="roundRect">
            <a:avLst>
              <a:gd name="adj" fmla="val 2059"/>
            </a:avLst>
          </a:prstGeom>
          <a:solidFill>
            <a:srgbClr val="FBF3E4"/>
          </a:solidFill>
          <a:ln w="9525">
            <a:solidFill>
              <a:srgbClr val="F3F5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 txBox="1"/>
          <p:nvPr/>
        </p:nvSpPr>
        <p:spPr>
          <a:xfrm>
            <a:off x="484632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64608" y="1545336"/>
            <a:ext cx="82296" cy="82296"/>
          </a:xfrm>
          <a:prstGeom prst="ellipse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5047488" y="14630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PCB images only; company images not yet available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864608" y="1993392"/>
            <a:ext cx="82296" cy="82296"/>
          </a:xfrm>
          <a:prstGeom prst="ellipse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 txBox="1"/>
          <p:nvPr/>
        </p:nvSpPr>
        <p:spPr>
          <a:xfrm>
            <a:off x="5047488" y="191109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RGB only; no 3D depth information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864608" y="2441448"/>
            <a:ext cx="82296" cy="82296"/>
          </a:xfrm>
          <a:prstGeom prst="ellipse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 txBox="1"/>
          <p:nvPr/>
        </p:nvSpPr>
        <p:spPr>
          <a:xfrm>
            <a:off x="5047488" y="23591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enhancement may not improve every metric (clean split: recall / F1 up, mAP@0.5:0.95 not)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864608" y="2890378"/>
            <a:ext cx="82296" cy="82296"/>
          </a:xfrm>
          <a:prstGeom prst="ellipse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 txBox="1"/>
          <p:nvPr/>
        </p:nvSpPr>
        <p:spPr>
          <a:xfrm>
            <a:off x="5047488" y="280808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IV E: limited memory and interface bandwidth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966</Words>
  <Application>Microsoft Office PowerPoint</Application>
  <PresentationFormat>On-screen Show (16:9)</PresentationFormat>
  <Paragraphs>130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Gap and Novelty — FPGA-Assisted Edge-Enhanced YOLO</dc:title>
  <dc:subject>PptxGenJS Presentation</dc:subject>
  <dc:creator>PptxGenJS</dc:creator>
  <cp:lastModifiedBy>이송욱</cp:lastModifiedBy>
  <cp:revision>3</cp:revision>
  <dcterms:created xsi:type="dcterms:W3CDTF">2026-09-26T05:54:38Z</dcterms:created>
  <dcterms:modified xsi:type="dcterms:W3CDTF">2026-09-26T07:53:12Z</dcterms:modified>
</cp:coreProperties>
</file>